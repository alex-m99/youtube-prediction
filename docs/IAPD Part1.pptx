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4" r:id="rId8"/>
    <p:sldId id="262" r:id="rId9"/>
    <p:sldId id="268" r:id="rId10"/>
    <p:sldId id="269" r:id="rId11"/>
    <p:sldId id="265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6A10A8-FE76-AA71-0051-797133CCAF65}" v="428" dt="2025-11-20T05:25:21.927"/>
    <p1510:client id="{205346C3-8E44-4BCA-800A-FCB504A8208C}" v="2149" dt="2025-11-20T09:18:26.066"/>
    <p1510:client id="{4A68E998-0C47-21B4-08FA-68F826234B4B}" v="330" dt="2025-11-19T19:51:25.895"/>
    <p1510:client id="{4C91DB4E-0170-C4FF-9AA5-B2BE76A8BF18}" v="51" dt="2025-11-20T07:58:56.974"/>
    <p1510:client id="{98CB57FB-AA17-D2F7-DC7C-8D58B41BF14B}" v="11" dt="2025-11-19T20:51:37.592"/>
    <p1510:client id="{CD67C32F-95C7-28F4-EA09-35B33FB88A6E}" v="30" dt="2025-11-20T09:50:04.280"/>
    <p1510:client id="{D337742A-078B-11AD-A92A-5DAB7D961BB3}" v="2920" dt="2025-11-19T19:31:03.750"/>
    <p1510:client id="{E5374BAC-7B0A-A12C-2532-9CC601F1D700}" v="3" dt="2025-11-20T07:58:28.971"/>
    <p1510:client id="{F057259F-6AD3-CFED-3E48-B38CBB6EA368}" v="197" dt="2025-11-19T20:38:48.2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656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535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697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121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262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678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822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305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871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624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294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73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r>
              <a:rPr lang="en-US" sz="4800" err="1">
                <a:solidFill>
                  <a:srgbClr val="FFFFFF"/>
                </a:solidFill>
                <a:ea typeface="+mj-lt"/>
                <a:cs typeface="+mj-lt"/>
              </a:rPr>
              <a:t>Predicție</a:t>
            </a:r>
            <a:r>
              <a:rPr lang="en-US" sz="4800">
                <a:solidFill>
                  <a:srgbClr val="FFFFFF"/>
                </a:solidFill>
                <a:ea typeface="+mj-lt"/>
                <a:cs typeface="+mj-lt"/>
              </a:rPr>
              <a:t> a </a:t>
            </a:r>
            <a:r>
              <a:rPr lang="en-US" sz="4800" err="1">
                <a:solidFill>
                  <a:srgbClr val="FFFFFF"/>
                </a:solidFill>
                <a:ea typeface="+mj-lt"/>
                <a:cs typeface="+mj-lt"/>
              </a:rPr>
              <a:t>numărului</a:t>
            </a:r>
            <a:r>
              <a:rPr lang="en-US" sz="4800">
                <a:solidFill>
                  <a:srgbClr val="FFFFFF"/>
                </a:solidFill>
                <a:ea typeface="+mj-lt"/>
                <a:cs typeface="+mj-lt"/>
              </a:rPr>
              <a:t> de like-</a:t>
            </a:r>
            <a:r>
              <a:rPr lang="en-US" sz="4800" err="1">
                <a:solidFill>
                  <a:srgbClr val="FFFFFF"/>
                </a:solidFill>
                <a:ea typeface="+mj-lt"/>
                <a:cs typeface="+mj-lt"/>
              </a:rPr>
              <a:t>uri</a:t>
            </a:r>
            <a:r>
              <a:rPr lang="en-US" sz="4800">
                <a:solidFill>
                  <a:srgbClr val="FFFFFF"/>
                </a:solidFill>
                <a:ea typeface="+mj-lt"/>
                <a:cs typeface="+mj-lt"/>
              </a:rPr>
              <a:t>  </a:t>
            </a:r>
            <a:r>
              <a:rPr lang="en-US" sz="4800" err="1">
                <a:solidFill>
                  <a:srgbClr val="FFFFFF"/>
                </a:solidFill>
                <a:ea typeface="+mj-lt"/>
                <a:cs typeface="+mj-lt"/>
              </a:rPr>
              <a:t>pentru</a:t>
            </a:r>
            <a:r>
              <a:rPr lang="en-US" sz="4800">
                <a:solidFill>
                  <a:srgbClr val="FFFFFF"/>
                </a:solidFill>
                <a:ea typeface="+mj-lt"/>
                <a:cs typeface="+mj-lt"/>
              </a:rPr>
              <a:t> </a:t>
            </a:r>
            <a:r>
              <a:rPr lang="en-US" sz="4800" err="1">
                <a:solidFill>
                  <a:srgbClr val="FFFFFF"/>
                </a:solidFill>
                <a:ea typeface="+mj-lt"/>
                <a:cs typeface="+mj-lt"/>
              </a:rPr>
              <a:t>videoclipuri</a:t>
            </a:r>
            <a:r>
              <a:rPr lang="en-US" sz="4800">
                <a:solidFill>
                  <a:srgbClr val="FFFFFF"/>
                </a:solidFill>
                <a:ea typeface="+mj-lt"/>
                <a:cs typeface="+mj-lt"/>
              </a:rPr>
              <a:t> de pe </a:t>
            </a:r>
            <a:r>
              <a:rPr lang="en-US" sz="4800" err="1">
                <a:solidFill>
                  <a:srgbClr val="FFFFFF"/>
                </a:solidFill>
                <a:ea typeface="+mj-lt"/>
                <a:cs typeface="+mj-lt"/>
              </a:rPr>
              <a:t>Youtube</a:t>
            </a:r>
            <a:endParaRPr lang="en-US" sz="4800" err="1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err="1"/>
              <a:t>Studenți</a:t>
            </a:r>
            <a:r>
              <a:rPr lang="en-US"/>
              <a:t>: </a:t>
            </a:r>
            <a:r>
              <a:rPr lang="en-US" err="1"/>
              <a:t>Răduță</a:t>
            </a:r>
            <a:r>
              <a:rPr lang="en-US"/>
              <a:t> Alexandru, Manea Daniel Alexandru</a:t>
            </a:r>
          </a:p>
          <a:p>
            <a:pPr algn="l"/>
            <a:r>
              <a:rPr lang="en-US" err="1"/>
              <a:t>Profesor</a:t>
            </a:r>
            <a:r>
              <a:rPr lang="en-US"/>
              <a:t>: </a:t>
            </a:r>
            <a:r>
              <a:rPr lang="en-US" err="1"/>
              <a:t>Dăscălu</a:t>
            </a:r>
            <a:r>
              <a:rPr lang="en-US"/>
              <a:t> Mihai</a:t>
            </a:r>
          </a:p>
        </p:txBody>
      </p:sp>
      <p:pic>
        <p:nvPicPr>
          <p:cNvPr id="46" name="Picture 45" descr="UPB NLP.png">
            <a:extLst>
              <a:ext uri="{FF2B5EF4-FFF2-40B4-BE49-F238E27FC236}">
                <a16:creationId xmlns:a16="http://schemas.microsoft.com/office/drawing/2014/main" id="{1FF9F423-8F74-2587-E2D1-BC2B11F5F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5613" y="4769132"/>
            <a:ext cx="1657350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656003-47B2-C452-5847-B10A3F419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Cuprins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ABB25-9BEC-3F3C-A559-0B634D375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o-RO" sz="4000">
                <a:latin typeface="Aptos"/>
                <a:ea typeface="Calibri"/>
                <a:cs typeface="Calibri"/>
              </a:rPr>
              <a:t>1. Introducere</a:t>
            </a:r>
            <a:endParaRPr lang="en-US"/>
          </a:p>
          <a:p>
            <a:r>
              <a:rPr lang="ro-RO" sz="4000">
                <a:latin typeface="Aptos"/>
                <a:ea typeface="Calibri"/>
                <a:cs typeface="Calibri"/>
              </a:rPr>
              <a:t>2. Metodologie</a:t>
            </a:r>
            <a:endParaRPr lang="ro-RO" sz="4000">
              <a:ea typeface="Calibri"/>
              <a:cs typeface="Calibri"/>
            </a:endParaRPr>
          </a:p>
          <a:p>
            <a:r>
              <a:rPr lang="ro-RO" sz="4000">
                <a:latin typeface="Aptos"/>
                <a:ea typeface="Calibri"/>
                <a:cs typeface="Calibri"/>
              </a:rPr>
              <a:t>3. Reprezentarea stratificată</a:t>
            </a:r>
          </a:p>
          <a:p>
            <a:r>
              <a:rPr lang="ro-RO" sz="4000">
                <a:latin typeface="Aptos"/>
                <a:ea typeface="Calibri"/>
                <a:cs typeface="Calibri"/>
              </a:rPr>
              <a:t>3. Restricții si soluții provizorii</a:t>
            </a:r>
            <a:endParaRPr lang="ro-RO"/>
          </a:p>
          <a:p>
            <a:r>
              <a:rPr lang="ro-RO" sz="4000">
                <a:latin typeface="Aptos"/>
                <a:ea typeface="Calibri"/>
                <a:cs typeface="Calibri"/>
              </a:rPr>
              <a:t>4. Setul de date</a:t>
            </a:r>
            <a:endParaRPr lang="ro-RO"/>
          </a:p>
          <a:p>
            <a:r>
              <a:rPr lang="ro-RO" sz="4000">
                <a:latin typeface="Aptos"/>
                <a:ea typeface="Calibri"/>
                <a:cs typeface="Calibri"/>
              </a:rPr>
              <a:t>5. Analiză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70707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8428E4-810C-6582-2272-A7D8D4DA7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717C6C-C239-6C4F-25C1-665873F1A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6" y="457201"/>
            <a:ext cx="5814240" cy="1556870"/>
          </a:xfrm>
        </p:spPr>
        <p:txBody>
          <a:bodyPr anchor="b">
            <a:normAutofit/>
          </a:bodyPr>
          <a:lstStyle/>
          <a:p>
            <a:r>
              <a:rPr lang="en-US" sz="4000"/>
              <a:t>Introducere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BF787-33DB-1794-475C-DCE813509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6" y="2277036"/>
            <a:ext cx="5942769" cy="34611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o-RO" sz="2000"/>
              <a:t>  </a:t>
            </a:r>
            <a:r>
              <a:rPr lang="ro-RO" sz="2000" err="1"/>
              <a:t>Youtube</a:t>
            </a:r>
            <a:r>
              <a:rPr lang="ro-RO" sz="2000"/>
              <a:t> este una dintre cele mai </a:t>
            </a:r>
            <a:r>
              <a:rPr lang="ro-RO" sz="2000" err="1"/>
              <a:t>mai</a:t>
            </a:r>
            <a:r>
              <a:rPr lang="ro-RO" sz="2000"/>
              <a:t> populare platforme online, unde zilnic sunt încărcate milioane de videoclipuri. Numărul de </a:t>
            </a:r>
            <a:r>
              <a:rPr lang="ro-RO" sz="2000" err="1"/>
              <a:t>like</a:t>
            </a:r>
            <a:r>
              <a:rPr lang="ro-RO" sz="2000"/>
              <a:t>-uri este unul dintre principalii indicatori ai nivelului de </a:t>
            </a:r>
            <a:r>
              <a:rPr lang="ro-RO" sz="2000" err="1"/>
              <a:t>engagement</a:t>
            </a:r>
            <a:r>
              <a:rPr lang="ro-RO" sz="2000"/>
              <a:t> al publicului. Scopul acestui proiect este de a construi un model capabil să prezică numărul de </a:t>
            </a:r>
            <a:r>
              <a:rPr lang="ro-RO" sz="2000" err="1"/>
              <a:t>like</a:t>
            </a:r>
            <a:r>
              <a:rPr lang="ro-RO" sz="2000"/>
              <a:t>-uri pe care un videoclip îl obține, în funcție de caracteristici legate de titlu, descriere și canalul pe care este încărcat.</a:t>
            </a:r>
          </a:p>
        </p:txBody>
      </p:sp>
      <p:pic>
        <p:nvPicPr>
          <p:cNvPr id="8" name="Picture 7" descr="What Is a Good Like to Dislike Ratio on YouTube? | TubeRanker">
            <a:extLst>
              <a:ext uri="{FF2B5EF4-FFF2-40B4-BE49-F238E27FC236}">
                <a16:creationId xmlns:a16="http://schemas.microsoft.com/office/drawing/2014/main" id="{D6FB57B6-EDEE-A953-E4DB-1279CC251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9766" y="1408252"/>
            <a:ext cx="3712869" cy="992379"/>
          </a:xfrm>
          <a:prstGeom prst="rect">
            <a:avLst/>
          </a:prstGeom>
        </p:spPr>
      </p:pic>
      <p:pic>
        <p:nvPicPr>
          <p:cNvPr id="4" name="Picture 3" descr="Fișier:Logo of YouTube (2015-2017).svg - Wikipedia">
            <a:extLst>
              <a:ext uri="{FF2B5EF4-FFF2-40B4-BE49-F238E27FC236}">
                <a16:creationId xmlns:a16="http://schemas.microsoft.com/office/drawing/2014/main" id="{A03DE451-3583-F66F-9DDA-E1637A627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5410" y="3717753"/>
            <a:ext cx="3712869" cy="155940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66000">
                <a:srgbClr val="000000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6400800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956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867917-CAAD-A3B2-973F-EDE595CD7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593E467-9B73-C849-ABC1-CFB1A68350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FE7EA6-0D95-C617-876D-81FB77734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C1D941-D682-1805-8FC5-E16690564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2DF3C6-ADF7-03A4-A50C-3690A63A1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BBDB90-A5B7-C3F4-1633-CD7D42589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err="1">
                <a:solidFill>
                  <a:srgbClr val="FFFFFF"/>
                </a:solidFill>
              </a:rPr>
              <a:t>Metodologie</a:t>
            </a:r>
            <a:endParaRPr lang="en-US" err="1"/>
          </a:p>
        </p:txBody>
      </p:sp>
      <p:sp>
        <p:nvSpPr>
          <p:cNvPr id="765" name="Content Placeholder 764">
            <a:extLst>
              <a:ext uri="{FF2B5EF4-FFF2-40B4-BE49-F238E27FC236}">
                <a16:creationId xmlns:a16="http://schemas.microsoft.com/office/drawing/2014/main" id="{46A57A6E-FCCB-0DB7-268E-34CB77EE3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ro-RO" sz="3200">
                <a:latin typeface="Aptos"/>
                <a:ea typeface="Calibri"/>
                <a:cs typeface="Calibri"/>
              </a:rPr>
              <a:t>Colectarea datelor: </a:t>
            </a:r>
            <a:r>
              <a:rPr lang="ro-RO" sz="3200" b="1" err="1">
                <a:latin typeface="Aptos"/>
                <a:ea typeface="Calibri"/>
                <a:cs typeface="Calibri"/>
              </a:rPr>
              <a:t>Youtube</a:t>
            </a:r>
            <a:r>
              <a:rPr lang="ro-RO" sz="3200" b="1">
                <a:latin typeface="Aptos"/>
                <a:ea typeface="Calibri"/>
                <a:cs typeface="Calibri"/>
              </a:rPr>
              <a:t> Data API v3</a:t>
            </a:r>
            <a:endParaRPr lang="en-US"/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ro-RO" sz="3200">
                <a:latin typeface="Aptos"/>
                <a:ea typeface="Calibri"/>
                <a:cs typeface="Calibri"/>
              </a:rPr>
              <a:t>Alegerea  variabilelor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ro-RO" sz="3200">
                <a:latin typeface="Aptos"/>
                <a:ea typeface="Calibri"/>
                <a:cs typeface="Calibri"/>
              </a:rPr>
              <a:t>Scripturi de colectare a datelor prin API si concatenare a datelor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ro-RO" sz="3200">
                <a:latin typeface="Aptos"/>
                <a:ea typeface="Calibri"/>
                <a:cs typeface="Calibri"/>
              </a:rPr>
              <a:t>Construirea unui  set de date care să reflecte realitatea 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ro-RO" sz="3200">
                <a:ea typeface="Calibri"/>
                <a:cs typeface="Calibri"/>
              </a:rPr>
              <a:t>Verificarea și curățarea datelor</a:t>
            </a:r>
          </a:p>
        </p:txBody>
      </p:sp>
    </p:spTree>
    <p:extLst>
      <p:ext uri="{BB962C8B-B14F-4D97-AF65-F5344CB8AC3E}">
        <p14:creationId xmlns:p14="http://schemas.microsoft.com/office/powerpoint/2010/main" val="1858189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EB0AFF-D0AC-3112-808A-D1C44E22C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241D718-6414-ED97-9EDF-C65FE41197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A3DCD0-6BC2-0298-5D4F-CC61463B5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435AA9-C289-8ACF-19E2-2C6B218454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44B9A2-69C4-A385-7A98-3A1F5F94B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1F5E84-53CC-4288-E592-84058A1E0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err="1">
                <a:solidFill>
                  <a:srgbClr val="FFFFFF"/>
                </a:solidFill>
              </a:rPr>
              <a:t>Reprezentare</a:t>
            </a:r>
            <a:r>
              <a:rPr lang="en-US" sz="4000">
                <a:solidFill>
                  <a:srgbClr val="FFFFFF"/>
                </a:solidFill>
              </a:rPr>
              <a:t> </a:t>
            </a:r>
            <a:r>
              <a:rPr lang="en-US" sz="4000" err="1">
                <a:solidFill>
                  <a:srgbClr val="FFFFFF"/>
                </a:solidFill>
              </a:rPr>
              <a:t>stratificată</a:t>
            </a:r>
            <a:r>
              <a:rPr lang="en-US" sz="4000">
                <a:solidFill>
                  <a:srgbClr val="FFFFFF"/>
                </a:solidFill>
              </a:rPr>
              <a:t>: 1189 </a:t>
            </a:r>
            <a:r>
              <a:rPr lang="en-US" sz="4000" err="1">
                <a:solidFill>
                  <a:srgbClr val="FFFFFF"/>
                </a:solidFill>
              </a:rPr>
              <a:t>intrări</a:t>
            </a:r>
            <a:endParaRPr lang="en-US" err="1"/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7AA882FC-93F8-4708-3C88-4BE2512277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8670096"/>
              </p:ext>
            </p:extLst>
          </p:nvPr>
        </p:nvGraphicFramePr>
        <p:xfrm>
          <a:off x="838200" y="1825625"/>
          <a:ext cx="10893228" cy="37084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23307">
                  <a:extLst>
                    <a:ext uri="{9D8B030D-6E8A-4147-A177-3AD203B41FA5}">
                      <a16:colId xmlns:a16="http://schemas.microsoft.com/office/drawing/2014/main" val="722983520"/>
                    </a:ext>
                  </a:extLst>
                </a:gridCol>
                <a:gridCol w="2723307">
                  <a:extLst>
                    <a:ext uri="{9D8B030D-6E8A-4147-A177-3AD203B41FA5}">
                      <a16:colId xmlns:a16="http://schemas.microsoft.com/office/drawing/2014/main" val="67439620"/>
                    </a:ext>
                  </a:extLst>
                </a:gridCol>
                <a:gridCol w="2723307">
                  <a:extLst>
                    <a:ext uri="{9D8B030D-6E8A-4147-A177-3AD203B41FA5}">
                      <a16:colId xmlns:a16="http://schemas.microsoft.com/office/drawing/2014/main" val="2462227039"/>
                    </a:ext>
                  </a:extLst>
                </a:gridCol>
                <a:gridCol w="2723307">
                  <a:extLst>
                    <a:ext uri="{9D8B030D-6E8A-4147-A177-3AD203B41FA5}">
                      <a16:colId xmlns:a16="http://schemas.microsoft.com/office/drawing/2014/main" val="22929712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Subscriberi</a:t>
                      </a:r>
                      <a:r>
                        <a:rPr lang="en-US"/>
                        <a:t> interval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err="1"/>
                        <a:t>Număr</a:t>
                      </a:r>
                      <a:r>
                        <a:rPr lang="en-US"/>
                        <a:t> de </a:t>
                      </a:r>
                      <a:r>
                        <a:rPr lang="en-US" err="1"/>
                        <a:t>canale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Procentaj</a:t>
                      </a:r>
                      <a:r>
                        <a:rPr lang="en-US"/>
                        <a:t>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Numărul</a:t>
                      </a:r>
                      <a:r>
                        <a:rPr lang="en-US"/>
                        <a:t> de </a:t>
                      </a:r>
                      <a:r>
                        <a:rPr lang="en-US" err="1"/>
                        <a:t>intrări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în</a:t>
                      </a:r>
                      <a:r>
                        <a:rPr lang="en-US"/>
                        <a:t>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516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0 - 99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66.000.000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654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9781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100 – 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34.000.000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28.33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337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620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1.000 - 9.999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17.000.000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14.17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7849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10.000 - 99.999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2.546.300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9420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100.000 - 999.999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401.900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630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1.000.000 - 9.999.999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48.900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 (se </a:t>
                      </a:r>
                      <a:r>
                        <a:rPr lang="en-US" err="1"/>
                        <a:t>alocă</a:t>
                      </a:r>
                      <a:r>
                        <a:rPr lang="en-US"/>
                        <a:t> 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791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10.000.000 - 49.999.999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2.857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 (se </a:t>
                      </a:r>
                      <a:r>
                        <a:rPr lang="en-US" err="1"/>
                        <a:t>alocă</a:t>
                      </a:r>
                      <a:r>
                        <a:rPr lang="en-US"/>
                        <a:t> 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866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50.000.000 - 99.999.999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 (se </a:t>
                      </a:r>
                      <a:r>
                        <a:rPr lang="en-US" err="1"/>
                        <a:t>alocă</a:t>
                      </a:r>
                      <a:r>
                        <a:rPr lang="en-US"/>
                        <a:t> 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773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100.000.000 +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0.000008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 (se </a:t>
                      </a:r>
                      <a:r>
                        <a:rPr lang="en-US" err="1"/>
                        <a:t>alocă</a:t>
                      </a:r>
                      <a:r>
                        <a:rPr lang="en-US"/>
                        <a:t> 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776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2220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9E4E36-34D7-0EBA-8F65-66466BF6A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138E84D-001B-44D9-74C4-BC1C72507B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FF553C-3B78-4DA5-DD42-AAF44BE02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267CD5-E4B9-DB64-F7E8-B2A5AA5B3B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0B65AB-850B-543B-49DA-A413D79A1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BB3BD3-289B-EE6E-AE80-3E420DCCC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err="1">
                <a:solidFill>
                  <a:srgbClr val="FFFFFF"/>
                </a:solidFill>
                <a:latin typeface="Aptos Display"/>
              </a:rPr>
              <a:t>Probleme</a:t>
            </a:r>
            <a:r>
              <a:rPr lang="en-US" sz="4000">
                <a:solidFill>
                  <a:srgbClr val="FFFFFF"/>
                </a:solidFill>
                <a:latin typeface="Aptos Display"/>
              </a:rPr>
              <a:t> </a:t>
            </a:r>
            <a:r>
              <a:rPr lang="en-US" sz="4000" err="1">
                <a:solidFill>
                  <a:srgbClr val="FFFFFF"/>
                </a:solidFill>
                <a:latin typeface="Aptos Display"/>
              </a:rPr>
              <a:t>întâmpinate</a:t>
            </a:r>
            <a:endParaRPr lang="en-US" err="1"/>
          </a:p>
        </p:txBody>
      </p:sp>
      <p:graphicFrame>
        <p:nvGraphicFramePr>
          <p:cNvPr id="41" name="Content Placeholder 40">
            <a:extLst>
              <a:ext uri="{FF2B5EF4-FFF2-40B4-BE49-F238E27FC236}">
                <a16:creationId xmlns:a16="http://schemas.microsoft.com/office/drawing/2014/main" id="{C6DF588D-F330-1C7B-828D-E50DA75E40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6014765"/>
              </p:ext>
            </p:extLst>
          </p:nvPr>
        </p:nvGraphicFramePr>
        <p:xfrm>
          <a:off x="838200" y="1825625"/>
          <a:ext cx="10515599" cy="4925621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5286796">
                  <a:extLst>
                    <a:ext uri="{9D8B030D-6E8A-4147-A177-3AD203B41FA5}">
                      <a16:colId xmlns:a16="http://schemas.microsoft.com/office/drawing/2014/main" val="2821800812"/>
                    </a:ext>
                  </a:extLst>
                </a:gridCol>
                <a:gridCol w="5228803">
                  <a:extLst>
                    <a:ext uri="{9D8B030D-6E8A-4147-A177-3AD203B41FA5}">
                      <a16:colId xmlns:a16="http://schemas.microsoft.com/office/drawing/2014/main" val="2406996693"/>
                    </a:ext>
                  </a:extLst>
                </a:gridCol>
              </a:tblGrid>
              <a:tr h="44506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o-RO" noProof="0"/>
                        <a:t>Problema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o-RO" noProof="0"/>
                        <a:t>Soluție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669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o-RO" noProof="0"/>
                        <a:t>Valoarea țintă (număr de </a:t>
                      </a:r>
                      <a:r>
                        <a:rPr lang="ro-RO" noProof="0" err="1"/>
                        <a:t>like</a:t>
                      </a:r>
                      <a:r>
                        <a:rPr lang="ro-RO" noProof="0"/>
                        <a:t>-uri) este dinamică.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o-RO" noProof="0"/>
                        <a:t>Predicția într-un interval strict de timp. Folosirea numărului de zile de la încărcare ca variabilă. Predicția relativă, nu absolută (ex: ”va trece de pragul de 1000 like-uri”).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3282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-RO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Youtube API nu permite accesarea datelor din intervale de timp din trecut, doar informații din prezent.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o-RO" noProof="0"/>
                        <a:t>Pentru predicția într-un interval de timp, folosim pentru antrenare videoclipuri cu o vechime identică (X zile). Antrenarea și testarea trebuie efectuate în aceeași zi. 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098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-RO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Numărul limitat de requesturi permise de Youtube API îngreunează colectarea unui volum mare de date.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o-RO" noProof="0"/>
                        <a:t>Rularea scriptului de extragere în sesiuni multiple cu un număr limitat de request-uri, salvarea rezultatelor parțiale la fiecare rulare și concatenarea lor într-un singur fișier.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196748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o-RO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Youtube API nu permite extragerea unui eșantion aleator pe straturi.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o-RO" noProof="0"/>
                        <a:t>Am realizat o selecție aleatorie stratificată a canalelor și am extras aleator din fiecare canal un videoclip.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0980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1619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F133FE-4669-51C5-E7EE-EDD07A345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77E45C5-C05A-37B7-3E02-94A7DA201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88A594-78E0-6AD2-8695-7A667A51C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9C2B0B-DD94-A01D-F2D7-928D44B52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5028AD-F337-036C-5F36-5DC82C412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3672C3-952C-F2C3-15E1-5DED3D5FB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329" y="294538"/>
            <a:ext cx="1039022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Aptos Display"/>
              </a:rPr>
              <a:t>Variabilele setului de date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EFA852-BACF-1633-CA3F-2324EC524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756" y="1825625"/>
            <a:ext cx="5203582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err="1"/>
              <a:t>title_word_count</a:t>
            </a:r>
            <a:r>
              <a:rPr lang="en-US" sz="2400"/>
              <a:t> </a:t>
            </a:r>
            <a:endParaRPr lang="en-US"/>
          </a:p>
          <a:p>
            <a:r>
              <a:rPr lang="en-US" sz="2400" err="1"/>
              <a:t>title_exclamation_count</a:t>
            </a:r>
            <a:r>
              <a:rPr lang="en-US" sz="2400"/>
              <a:t> </a:t>
            </a:r>
          </a:p>
          <a:p>
            <a:r>
              <a:rPr lang="en-US" sz="2400" err="1"/>
              <a:t>how_many_numbers_in_title</a:t>
            </a:r>
            <a:r>
              <a:rPr lang="en-US" sz="2400"/>
              <a:t> </a:t>
            </a:r>
          </a:p>
          <a:p>
            <a:r>
              <a:rPr lang="en-US" sz="2400" err="1"/>
              <a:t>words_with_uppercase_in_title</a:t>
            </a:r>
            <a:r>
              <a:rPr lang="en-US" sz="2400"/>
              <a:t> </a:t>
            </a:r>
          </a:p>
          <a:p>
            <a:r>
              <a:rPr lang="en-US" sz="2400" err="1"/>
              <a:t>description_word_count</a:t>
            </a:r>
            <a:r>
              <a:rPr lang="en-US" sz="2400"/>
              <a:t> </a:t>
            </a:r>
          </a:p>
          <a:p>
            <a:r>
              <a:rPr lang="en-US" sz="2400" err="1"/>
              <a:t>number_of_hashtags_in_description</a:t>
            </a:r>
            <a:r>
              <a:rPr lang="en-US" sz="2400"/>
              <a:t> </a:t>
            </a:r>
          </a:p>
          <a:p>
            <a:r>
              <a:rPr lang="en-US" sz="2400" err="1"/>
              <a:t>video_duration</a:t>
            </a:r>
            <a:endParaRPr lang="en-US" sz="2400"/>
          </a:p>
          <a:p>
            <a:r>
              <a:rPr lang="en-US" sz="2400"/>
              <a:t>category 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1065135-6C87-C1E4-541C-62B22F2BBC4F}"/>
              </a:ext>
            </a:extLst>
          </p:cNvPr>
          <p:cNvSpPr txBox="1">
            <a:spLocks/>
          </p:cNvSpPr>
          <p:nvPr/>
        </p:nvSpPr>
        <p:spPr>
          <a:xfrm>
            <a:off x="6288095" y="1822928"/>
            <a:ext cx="3657601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err="1"/>
              <a:t>day_of_week_uploaded</a:t>
            </a:r>
            <a:r>
              <a:rPr lang="en-US" sz="2400"/>
              <a:t> </a:t>
            </a:r>
            <a:endParaRPr lang="en-US"/>
          </a:p>
          <a:p>
            <a:r>
              <a:rPr lang="en-US" sz="2400" err="1"/>
              <a:t>view_count</a:t>
            </a:r>
            <a:r>
              <a:rPr lang="en-US" sz="240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like_count 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sz="2400" err="1"/>
              <a:t>comment_count</a:t>
            </a:r>
            <a:r>
              <a:rPr lang="en-US" sz="240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err="1"/>
              <a:t>subscriberCount</a:t>
            </a:r>
            <a:r>
              <a:rPr lang="en-US" sz="240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err="1"/>
              <a:t>channel_video_count</a:t>
            </a:r>
            <a:r>
              <a:rPr lang="en-US" sz="240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channel_view_count </a:t>
            </a:r>
          </a:p>
          <a:p>
            <a:r>
              <a:rPr lang="en-US" sz="2400" err="1"/>
              <a:t>days_since_upload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718897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7F2B69-9161-9179-C7FB-995CBB3BE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9D5C94C-7A09-21EB-318C-77665863C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745541-50A7-D107-EA5F-EED34938C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D68108-7B37-ADA4-55A9-1C49670FC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907AA0-E351-2CC2-3E14-A00CE868B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E23AAB-00EB-068A-B432-B94D8DE6A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err="1">
                <a:solidFill>
                  <a:srgbClr val="FFFFFF"/>
                </a:solidFill>
                <a:latin typeface="Aptos Display"/>
              </a:rPr>
              <a:t>Setul</a:t>
            </a:r>
            <a:r>
              <a:rPr lang="en-US" sz="4000">
                <a:solidFill>
                  <a:srgbClr val="FFFFFF"/>
                </a:solidFill>
                <a:latin typeface="Aptos Display"/>
              </a:rPr>
              <a:t> de date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1D1A90-21EF-706F-FF68-3BBF1C44E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8" name="Picture 7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85658425-CC02-1152-22A8-C286C9A0A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7601"/>
            <a:ext cx="12192000" cy="410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879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A5AA14-8F5A-C39D-BF93-49504F6C2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774C3B-B3B6-FBCE-4DDC-A4442B328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4B1F7A-6492-CEC3-96FC-0A8C43A3D8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6B43DE-F16F-A9E2-80A6-718DE92BC2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46B390-3684-242D-9BB5-323A97F1F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23CB2C-7353-5DE0-91D2-7C713CE74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err="1">
                <a:solidFill>
                  <a:srgbClr val="FFFFFF"/>
                </a:solidFill>
                <a:latin typeface="Aptos Display"/>
              </a:rPr>
              <a:t>Setul</a:t>
            </a:r>
            <a:r>
              <a:rPr lang="en-US" sz="4000">
                <a:solidFill>
                  <a:srgbClr val="FFFFFF"/>
                </a:solidFill>
                <a:latin typeface="Aptos Display"/>
              </a:rPr>
              <a:t> de date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C3D4F2-F9E5-7F2D-93D3-862574A25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10" name="Picture 9" descr="A screenshot of a white sheet with black text&#10;&#10;AI-generated content may be incorrect.">
            <a:extLst>
              <a:ext uri="{FF2B5EF4-FFF2-40B4-BE49-F238E27FC236}">
                <a16:creationId xmlns:a16="http://schemas.microsoft.com/office/drawing/2014/main" id="{BB756FF5-1334-8C50-CFF3-EE138DC72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605"/>
            <a:ext cx="12192000" cy="3962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734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370B0A-8016-94A5-A0AC-B587DCA59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A0ACD1F-B11C-788D-044E-3FDB56CB6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E0BB0E-C5B0-52B6-2532-8CBFA75CC2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E89CE6-67A6-3EA5-89F5-8AFD898F1D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DDE54C-6AB1-739F-1C4A-CDABD2366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408D0A-4DC0-4B3C-6008-FF91A1B13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err="1">
                <a:solidFill>
                  <a:srgbClr val="FFFFFF"/>
                </a:solidFill>
                <a:latin typeface="Aptos Display"/>
              </a:rPr>
              <a:t>Setul</a:t>
            </a:r>
            <a:r>
              <a:rPr lang="en-US" sz="4000">
                <a:solidFill>
                  <a:srgbClr val="FFFFFF"/>
                </a:solidFill>
                <a:latin typeface="Aptos Display"/>
              </a:rPr>
              <a:t> de date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63DB2E-4706-D44C-6F85-9D88BB430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3030130-E2C8-BC6F-E1BB-561BA0AB1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36956"/>
            <a:ext cx="12192000" cy="318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521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CD3638-C85A-3B1E-1460-9C5EAE30B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5C35130-7468-ABC9-2C41-AFDE1D7E46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0C4EA0-72BF-EBBA-3D48-E1145D361D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ADFAC2-761E-7518-E9AC-A4BE06455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ED2AC9-A64E-E8A3-1A43-9D53603598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214A2F-09FD-22CD-2F92-70200591D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err="1">
                <a:solidFill>
                  <a:srgbClr val="FFFFFF"/>
                </a:solidFill>
                <a:latin typeface="Aptos Display"/>
              </a:rPr>
              <a:t>Analiză</a:t>
            </a:r>
            <a:r>
              <a:rPr lang="en-US" sz="4000">
                <a:solidFill>
                  <a:srgbClr val="FFFFFF"/>
                </a:solidFill>
                <a:latin typeface="Aptos Display"/>
              </a:rPr>
              <a:t> </a:t>
            </a:r>
            <a:r>
              <a:rPr lang="en-US" sz="4000" err="1">
                <a:solidFill>
                  <a:srgbClr val="FFFFFF"/>
                </a:solidFill>
                <a:latin typeface="Aptos Display"/>
              </a:rPr>
              <a:t>propusă</a:t>
            </a:r>
            <a:endParaRPr lang="en-US" sz="4000" err="1">
              <a:solidFill>
                <a:srgbClr val="FFFFFF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9C1A21-00DB-5627-7AA4-A1495A9BC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ro-RO" b="1">
                <a:ea typeface="+mn-lt"/>
                <a:cs typeface="+mn-lt"/>
              </a:rPr>
              <a:t>1. Analiză Exploratorie a Datelor (EDA) - înțelegerea datelor</a:t>
            </a:r>
            <a:endParaRPr lang="en-US"/>
          </a:p>
          <a:p>
            <a:pPr marL="0" indent="0">
              <a:buNone/>
            </a:pPr>
            <a:r>
              <a:rPr lang="ro-RO">
                <a:ea typeface="+mn-lt"/>
                <a:cs typeface="+mn-lt"/>
              </a:rPr>
              <a:t> Verificarea distribuției variabilei țintă (</a:t>
            </a:r>
            <a:r>
              <a:rPr lang="ro-RO" err="1">
                <a:ea typeface="+mn-lt"/>
                <a:cs typeface="+mn-lt"/>
              </a:rPr>
              <a:t>like_count</a:t>
            </a:r>
            <a:r>
              <a:rPr lang="ro-RO">
                <a:ea typeface="+mn-lt"/>
                <a:cs typeface="+mn-lt"/>
              </a:rPr>
              <a:t>), calcularea statisticilor descriptive (medie, mediană), și explorarea distribuției </a:t>
            </a:r>
            <a:r>
              <a:rPr lang="ro-RO" err="1">
                <a:ea typeface="+mn-lt"/>
                <a:cs typeface="+mn-lt"/>
              </a:rPr>
              <a:t>like</a:t>
            </a:r>
            <a:r>
              <a:rPr lang="ro-RO">
                <a:ea typeface="+mn-lt"/>
                <a:cs typeface="+mn-lt"/>
              </a:rPr>
              <a:t>-urilor în funcție de categoriile video sau ziua săptămânii.</a:t>
            </a:r>
            <a:endParaRPr lang="ro-RO"/>
          </a:p>
          <a:p>
            <a:pPr marL="0" indent="0">
              <a:buNone/>
            </a:pPr>
            <a:r>
              <a:rPr lang="ro-RO" b="1"/>
              <a:t>2. </a:t>
            </a:r>
            <a:r>
              <a:rPr lang="ro-RO" b="1">
                <a:ea typeface="+mn-lt"/>
                <a:cs typeface="+mn-lt"/>
              </a:rPr>
              <a:t>Procesarea datelor</a:t>
            </a:r>
            <a:endParaRPr lang="ro-RO" b="1"/>
          </a:p>
          <a:p>
            <a:pPr marL="0" indent="0">
              <a:buNone/>
            </a:pPr>
            <a:r>
              <a:rPr lang="ro-RO"/>
              <a:t> Calcularea corelației între </a:t>
            </a:r>
            <a:r>
              <a:rPr lang="ro-RO" err="1"/>
              <a:t>like_count</a:t>
            </a:r>
            <a:r>
              <a:rPr lang="ro-RO"/>
              <a:t> și celelalte variabile. Scalarea datelor</a:t>
            </a:r>
          </a:p>
          <a:p>
            <a:pPr marL="0" indent="0">
              <a:buNone/>
            </a:pPr>
            <a:r>
              <a:rPr lang="ro-RO" b="1"/>
              <a:t>3. Construirea modelului de predicție</a:t>
            </a:r>
          </a:p>
          <a:p>
            <a:pPr marL="0" indent="0">
              <a:buNone/>
            </a:pPr>
            <a:r>
              <a:rPr lang="ro-RO"/>
              <a:t> Antrenarea unui model de predicție (ex: </a:t>
            </a:r>
            <a:r>
              <a:rPr lang="ro-RO" err="1"/>
              <a:t>Random</a:t>
            </a:r>
            <a:r>
              <a:rPr lang="ro-RO"/>
              <a:t> Forest). Putem să calculăm R</a:t>
            </a:r>
            <a:r>
              <a:rPr lang="ro-RO" baseline="30000"/>
              <a:t>2</a:t>
            </a:r>
            <a:r>
              <a:rPr lang="ro-RO"/>
              <a:t> ca să evaluăm modelul și să vedem relevanța </a:t>
            </a:r>
            <a:r>
              <a:rPr lang="ro-RO" err="1"/>
              <a:t>feature</a:t>
            </a:r>
            <a:r>
              <a:rPr lang="ro-RO"/>
              <a:t>-urilor alese în relevanță cu variabila țintă.</a:t>
            </a:r>
            <a:endParaRPr lang="ro-RO">
              <a:ea typeface="+mn-lt"/>
              <a:cs typeface="+mn-lt"/>
            </a:endParaRPr>
          </a:p>
          <a:p>
            <a:pPr marL="0" indent="0">
              <a:buNone/>
            </a:pPr>
            <a:r>
              <a:rPr lang="ro-RO" b="1"/>
              <a:t>4. Interpretarea rezultatelor.</a:t>
            </a:r>
          </a:p>
          <a:p>
            <a:pPr marL="0" indent="0">
              <a:buNone/>
            </a:pPr>
            <a:endParaRPr lang="ro-RO"/>
          </a:p>
          <a:p>
            <a:pPr marL="0" indent="0">
              <a:buNone/>
            </a:pPr>
            <a:endParaRPr lang="ro-RO"/>
          </a:p>
          <a:p>
            <a:pPr marL="0" indent="0">
              <a:buNone/>
            </a:pPr>
            <a:endParaRPr lang="ro-RO"/>
          </a:p>
          <a:p>
            <a:pPr marL="0" indent="0">
              <a:buNone/>
            </a:pPr>
            <a:endParaRPr lang="ro-RO"/>
          </a:p>
          <a:p>
            <a:pPr marL="0" indent="0">
              <a:buNone/>
            </a:pP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04041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47A4A6-D77E-D39D-612A-DAA80AF9E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6132C93F-0C96-488F-176C-568FA336A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814F6B7-F03E-19A4-2D8F-3245F6556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CA0D026-09F3-794B-1A9D-7FDB01CE9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2AEBDD6-E92F-B083-0FF9-AA5A4EF3F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D883B6B-1DF9-53EA-A688-2AD969260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CF161962-A7AF-567D-636C-562B3D261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C45F32-2CB6-4F9F-C27E-393348C750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r>
              <a:rPr lang="ro-RO" sz="4800">
                <a:solidFill>
                  <a:srgbClr val="FFFFFF"/>
                </a:solidFill>
                <a:ea typeface="+mj-lt"/>
                <a:cs typeface="+mj-lt"/>
              </a:rPr>
              <a:t>Vă mulțumim pentru atenție!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67421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Predicție a numărului de like-uri  pentru videoclipuri de pe Youtube</vt:lpstr>
      <vt:lpstr>Cuprins</vt:lpstr>
      <vt:lpstr>Introducere</vt:lpstr>
      <vt:lpstr>Metodologie</vt:lpstr>
      <vt:lpstr>Reprezentare stratificată: 1189 intrări</vt:lpstr>
      <vt:lpstr>Probleme întâmpinate</vt:lpstr>
      <vt:lpstr>Variabilele setului de date</vt:lpstr>
      <vt:lpstr>Setul de date</vt:lpstr>
      <vt:lpstr>Setul de date</vt:lpstr>
      <vt:lpstr>Setul de date</vt:lpstr>
      <vt:lpstr>Analiză propusă</vt:lpstr>
      <vt:lpstr>Vă mulțumim pentru atenție!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2025-11-19T15:15:21Z</dcterms:created>
  <dcterms:modified xsi:type="dcterms:W3CDTF">2025-11-20T10:33:03Z</dcterms:modified>
</cp:coreProperties>
</file>